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48640" y="932688"/>
            <a:ext cx="8778240" cy="566928"/>
          </a:xfrm>
        </p:spPr>
        <p:txBody>
          <a:bodyPr wrap="square" tIns="0" bIns="0" anchor="ctr"/>
          <a:lstStyle/>
          <a:p>
            <a:r>
              <a:rPr lang="en-US" sz="2100" b="1" dirty="0">
                <a:solidFill>
                  <a:srgbClr val="1F3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ANUPALAN  –  AI Compliance &amp; Governance Command Centre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9184" y="-530352"/>
            <a:ext cx="9281160" cy="2075688"/>
          </a:xfrm>
        </p:spPr>
        <p:txBody>
          <a:bodyPr wrap="square" tIns="0" bIns="0" anchor="ctr"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212848"/>
            <a:ext cx="5715000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9456" indent="-219456" algn="l">
              <a:lnSpc>
                <a:spcPct val="95000"/>
              </a:lnSpc>
              <a:spcBef>
                <a:spcPts val="0"/>
              </a:spcBef>
              <a:spcAft>
                <a:spcPts val="1100"/>
              </a:spcAft>
              <a:buClr>
                <a:srgbClr val="E8871A"/>
              </a:buClr>
              <a:buSzPts val="1614"/>
              <a:buFont typeface="Arial"/>
              <a:buChar char="▪"/>
            </a:pPr>
            <a:r>
              <a:rPr sz="1900" b="1">
                <a:solidFill>
                  <a:srgbClr val="1F3B63"/>
                </a:solidFill>
                <a:latin typeface="Arial"/>
              </a:rPr>
              <a:t>Problem Statement ID – </a:t>
            </a:r>
            <a:r>
              <a:rPr sz="1900" b="1">
                <a:solidFill>
                  <a:srgbClr val="0070C0"/>
                </a:solidFill>
                <a:latin typeface="Arial"/>
              </a:rPr>
              <a:t>SIH26024</a:t>
            </a:r>
            <a:endParaRPr lang="en-US" dirty="0"/>
          </a:p>
          <a:p>
            <a:pPr marL="219456" indent="-219456" algn="l">
              <a:lnSpc>
                <a:spcPct val="95000"/>
              </a:lnSpc>
              <a:spcBef>
                <a:spcPts val="0"/>
              </a:spcBef>
              <a:spcAft>
                <a:spcPts val="1100"/>
              </a:spcAft>
              <a:buClr>
                <a:srgbClr val="E8871A"/>
              </a:buClr>
              <a:buSzPts val="1445"/>
              <a:buFont typeface="Arial"/>
              <a:buChar char="▪"/>
            </a:pPr>
            <a:r>
              <a:rPr sz="1700" b="1">
                <a:solidFill>
                  <a:srgbClr val="1F3B63"/>
                </a:solidFill>
                <a:latin typeface="Arial"/>
              </a:rPr>
              <a:t>Problem Statement Title- </a:t>
            </a:r>
            <a:r>
              <a:rPr sz="1700" b="0">
                <a:solidFill>
                  <a:srgbClr val="22303F"/>
                </a:solidFill>
                <a:latin typeface="Arial"/>
              </a:rPr>
              <a:t>AI-Based Smart Governance and Compliance Monitoring System for Coal Mines</a:t>
            </a:r>
          </a:p>
          <a:p>
            <a:pPr marL="219456" indent="-219456" algn="l">
              <a:lnSpc>
                <a:spcPct val="95000"/>
              </a:lnSpc>
              <a:spcBef>
                <a:spcPts val="0"/>
              </a:spcBef>
              <a:spcAft>
                <a:spcPts val="1100"/>
              </a:spcAft>
              <a:buClr>
                <a:srgbClr val="E8871A"/>
              </a:buClr>
              <a:buSzPts val="1614"/>
              <a:buFont typeface="Arial"/>
              <a:buChar char="▪"/>
            </a:pPr>
            <a:r>
              <a:rPr sz="1900" b="1">
                <a:solidFill>
                  <a:srgbClr val="1F3B63"/>
                </a:solidFill>
                <a:latin typeface="Arial"/>
              </a:rPr>
              <a:t>Theme- </a:t>
            </a:r>
            <a:r>
              <a:rPr sz="1900" b="0">
                <a:solidFill>
                  <a:srgbClr val="22303F"/>
                </a:solidFill>
                <a:latin typeface="Arial"/>
              </a:rPr>
              <a:t>Smart Automation</a:t>
            </a:r>
          </a:p>
          <a:p>
            <a:pPr marL="219456" indent="-219456" algn="l">
              <a:lnSpc>
                <a:spcPct val="95000"/>
              </a:lnSpc>
              <a:spcBef>
                <a:spcPts val="0"/>
              </a:spcBef>
              <a:spcAft>
                <a:spcPts val="1100"/>
              </a:spcAft>
              <a:buClr>
                <a:srgbClr val="E8871A"/>
              </a:buClr>
              <a:buSzPts val="1614"/>
              <a:buFont typeface="Arial"/>
              <a:buChar char="▪"/>
            </a:pPr>
            <a:r>
              <a:rPr sz="1900" b="1">
                <a:solidFill>
                  <a:srgbClr val="1F3B63"/>
                </a:solidFill>
                <a:latin typeface="Arial"/>
              </a:rPr>
              <a:t>PS Category- </a:t>
            </a:r>
            <a:r>
              <a:rPr sz="1900" b="0">
                <a:solidFill>
                  <a:srgbClr val="22303F"/>
                </a:solidFill>
                <a:latin typeface="Arial"/>
              </a:rPr>
              <a:t>Software</a:t>
            </a:r>
          </a:p>
          <a:p>
            <a:pPr marL="219456" indent="-219456" algn="l">
              <a:lnSpc>
                <a:spcPct val="95000"/>
              </a:lnSpc>
              <a:spcBef>
                <a:spcPts val="0"/>
              </a:spcBef>
              <a:spcAft>
                <a:spcPts val="1100"/>
              </a:spcAft>
              <a:buClr>
                <a:srgbClr val="E8871A"/>
              </a:buClr>
              <a:buSzPts val="1614"/>
              <a:buFont typeface="Arial"/>
              <a:buChar char="▪"/>
            </a:pPr>
            <a:r>
              <a:rPr sz="1900" b="1">
                <a:solidFill>
                  <a:srgbClr val="1F3B63"/>
                </a:solidFill>
                <a:latin typeface="Arial"/>
              </a:rPr>
              <a:t>Team ID- </a:t>
            </a:r>
            <a:r>
              <a:rPr sz="1900" b="1">
                <a:solidFill>
                  <a:srgbClr val="C0392B"/>
                </a:solidFill>
                <a:latin typeface="Arial"/>
              </a:rPr>
              <a:t>◄ ADD TEAM ID FROM SIH PORTAL</a:t>
            </a:r>
          </a:p>
          <a:p>
            <a:pPr marL="219456" indent="-219456" algn="l">
              <a:lnSpc>
                <a:spcPct val="95000"/>
              </a:lnSpc>
              <a:spcBef>
                <a:spcPts val="0"/>
              </a:spcBef>
              <a:spcAft>
                <a:spcPts val="1100"/>
              </a:spcAft>
              <a:buClr>
                <a:srgbClr val="E8871A"/>
              </a:buClr>
              <a:buSzPts val="1614"/>
              <a:buFont typeface="Arial"/>
              <a:buChar char="▪"/>
            </a:pPr>
            <a:r>
              <a:rPr sz="1900" b="1">
                <a:solidFill>
                  <a:srgbClr val="1F3B63"/>
                </a:solidFill>
                <a:latin typeface="Arial"/>
              </a:rPr>
              <a:t>Team Name (Registered on portal)- </a:t>
            </a:r>
            <a:r>
              <a:rPr sz="1900" b="1">
                <a:solidFill>
                  <a:srgbClr val="0070C0"/>
                </a:solidFill>
                <a:latin typeface="Arial"/>
              </a:rPr>
              <a:t>NeuraForge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6053328"/>
            <a:ext cx="571500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5A6B7D"/>
                </a:solidFill>
                <a:latin typeface="Arial"/>
              </a:rPr>
              <a:t>Coal India Limited  ·  Ministry of Coal   |   Presidency University,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27432"/>
            <a:ext cx="8001000" cy="960120"/>
          </a:xfrm>
        </p:spPr>
        <p:txBody>
          <a:bodyPr wrap="square" tIns="0" bIns="0" anchor="ctr"/>
          <a:lstStyle/>
          <a:p>
            <a:pPr eaLnBrk="1" hangingPunct="1"/>
            <a:r>
              <a:rPr lang="en-US" sz="2700" b="1" dirty="0">
                <a:solidFill>
                  <a:srgbClr val="1F3B63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ANUPALAN – AI Compliance Command Centre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F3B63"/>
                </a:solidFill>
                <a:latin typeface="Arial"/>
              </a:rPr>
              <a:t>NeuraForge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11480" y="1101851"/>
            <a:ext cx="105156" cy="186944"/>
          </a:xfrm>
          <a:prstGeom prst="roundRect">
            <a:avLst>
              <a:gd name="adj" fmla="val 35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TextBox 15362"/>
          <p:cNvSpPr txBox="1"/>
          <p:nvPr/>
        </p:nvSpPr>
        <p:spPr>
          <a:xfrm>
            <a:off x="591078" y="1060704"/>
            <a:ext cx="11164824" cy="26347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dirty="0">
                <a:solidFill>
                  <a:srgbClr val="1F3B63"/>
                </a:solidFill>
                <a:latin typeface="Arial"/>
              </a:rPr>
              <a:t>Proposed </a:t>
            </a:r>
            <a:r>
              <a:rPr sz="1600" b="1" i="0">
                <a:solidFill>
                  <a:srgbClr val="1F3B63"/>
                </a:solidFill>
                <a:latin typeface="Arial"/>
              </a:rPr>
              <a:t>Solution </a:t>
            </a:r>
            <a:endParaRPr sz="1600" b="1" i="0" dirty="0">
              <a:solidFill>
                <a:srgbClr val="1F3B63"/>
              </a:solidFill>
              <a:latin typeface="Arial"/>
            </a:endParaRP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1481328"/>
            <a:ext cx="6720840" cy="2468880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13970">
            <a:solidFill>
              <a:srgbClr val="B8C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65" name="Rounded Rectangle 15364"/>
          <p:cNvSpPr/>
          <p:nvPr/>
        </p:nvSpPr>
        <p:spPr>
          <a:xfrm>
            <a:off x="566928" y="1604772"/>
            <a:ext cx="105156" cy="151892"/>
          </a:xfrm>
          <a:prstGeom prst="roundRect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TextBox 15365"/>
          <p:cNvSpPr txBox="1"/>
          <p:nvPr/>
        </p:nvSpPr>
        <p:spPr>
          <a:xfrm>
            <a:off x="740664" y="1563624"/>
            <a:ext cx="6227064" cy="302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F3B63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66928" y="1875536"/>
            <a:ext cx="6419088" cy="19923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3B63"/>
                </a:solidFill>
                <a:latin typeface="Arial"/>
              </a:rPr>
              <a:t>Digital Rulebook.</a:t>
            </a:r>
            <a:r>
              <a:rPr sz="1080" b="0">
                <a:solidFill>
                  <a:srgbClr val="22303F"/>
                </a:solidFill>
                <a:latin typeface="Arial"/>
              </a:rPr>
              <a:t> Regulation-as-Code parses the Mines Act 1952, CMR 2017, DGMS circulars and EC/CTO conditions into tracked duties with owner, deadline and required evidence.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3B63"/>
                </a:solidFill>
                <a:latin typeface="Arial"/>
              </a:rPr>
              <a:t>Offline-first field evidence.</a:t>
            </a:r>
            <a:r>
              <a:rPr sz="1080" b="0">
                <a:solidFill>
                  <a:srgbClr val="22303F"/>
                </a:solidFill>
                <a:latin typeface="Arial"/>
              </a:rPr>
              <a:t> Geo-tagged, timestamped, hash-chained capture that works underground and syncs on reconnect.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3B63"/>
                </a:solidFill>
                <a:latin typeface="Arial"/>
              </a:rPr>
              <a:t>Predictive risk engine.</a:t>
            </a:r>
            <a:r>
              <a:rPr sz="1080" b="0">
                <a:solidFill>
                  <a:srgbClr val="22303F"/>
                </a:solidFill>
                <a:latin typeface="Arial"/>
              </a:rPr>
              <a:t> Scores which mine and which clause is most likely to fail next, from inspection and violation history.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3B63"/>
                </a:solidFill>
                <a:latin typeface="Arial"/>
              </a:rPr>
              <a:t>Hazard early-warning, no new hardware.</a:t>
            </a:r>
            <a:r>
              <a:rPr sz="1080" b="0">
                <a:solidFill>
                  <a:srgbClr val="22303F"/>
                </a:solidFill>
                <a:latin typeface="Arial"/>
              </a:rPr>
              <a:t> Reads CIL's existing ETMS, methane detectors, strata monitors and geo-fenced vehicle telemetry to flag inundation, roof and ground movement, gas build-up, seismic shift and equipment failure as live breaches.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3B63"/>
                </a:solidFill>
                <a:latin typeface="Arial"/>
              </a:rPr>
              <a:t>Geospatial compliance layer.</a:t>
            </a:r>
            <a:r>
              <a:rPr sz="1080" b="0">
                <a:solidFill>
                  <a:srgbClr val="22303F"/>
                </a:solidFill>
                <a:latin typeface="Arial"/>
              </a:rPr>
              <a:t> Lease, forest and eco-sensitive polygons in PostGIS; satellite change detection catches excavation outside sanctioned limits and screens expansion zones before they are planned.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11480" y="4041648"/>
            <a:ext cx="6720840" cy="2176272"/>
          </a:xfrm>
          <a:prstGeom prst="roundRect">
            <a:avLst>
              <a:gd name="adj" fmla="val 5500"/>
            </a:avLst>
          </a:prstGeom>
          <a:solidFill>
            <a:srgbClr val="EAF3EC"/>
          </a:solidFill>
          <a:ln w="13970">
            <a:solidFill>
              <a:srgbClr val="8FB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566928" y="4165091"/>
            <a:ext cx="105156" cy="151892"/>
          </a:xfrm>
          <a:prstGeom prst="roundRect">
            <a:avLst>
              <a:gd name="adj" fmla="val 3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740664" y="4123944"/>
            <a:ext cx="6227064" cy="302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F3B63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566928" y="4435856"/>
            <a:ext cx="6419088" cy="169976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5B2E"/>
                </a:solidFill>
                <a:latin typeface="Arial"/>
              </a:rPr>
              <a:t>Fragmentation → one source of truth.</a:t>
            </a:r>
            <a:r>
              <a:rPr sz="1080" b="0">
                <a:solidFill>
                  <a:srgbClr val="22303F"/>
                </a:solidFill>
                <a:latin typeface="Arial"/>
              </a:rPr>
              <a:t> Safety, environment, production and labour duties in a single auditable system instead of spreadsheets and paper registers.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5B2E"/>
                </a:solidFill>
                <a:latin typeface="Arial"/>
              </a:rPr>
              <a:t>Reactive → predictive.</a:t>
            </a:r>
            <a:r>
              <a:rPr sz="1080" b="0">
                <a:solidFill>
                  <a:srgbClr val="22303F"/>
                </a:solidFill>
                <a:latin typeface="Arial"/>
              </a:rPr>
              <a:t> Hazard telemetry and inspection history combine into a score that flags the breach before it is recorded.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5B2E"/>
                </a:solidFill>
                <a:latin typeface="Arial"/>
              </a:rPr>
              <a:t>Weeks → hours.</a:t>
            </a:r>
            <a:r>
              <a:rPr sz="1080" b="0">
                <a:solidFill>
                  <a:srgbClr val="22303F"/>
                </a:solidFill>
                <a:latin typeface="Arial"/>
              </a:rPr>
              <a:t> The inspection-to-report cycle collapses, and every entry traces back to the exact statutory clause.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5B2E"/>
                </a:solidFill>
                <a:latin typeface="Arial"/>
              </a:rPr>
              <a:t>Self-declared → verifiable.</a:t>
            </a:r>
            <a:r>
              <a:rPr sz="1080" b="0">
                <a:solidFill>
                  <a:srgbClr val="22303F"/>
                </a:solidFill>
                <a:latin typeface="Arial"/>
              </a:rPr>
              <a:t> Tamper-evident evidence stands up in a DGMS enquiry; boundary breaches are caught from imagery, not complaints.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918"/>
              <a:buFont typeface="Arial"/>
              <a:buChar char="▪"/>
            </a:pPr>
            <a:r>
              <a:rPr sz="1080" b="1">
                <a:solidFill>
                  <a:srgbClr val="1F5B2E"/>
                </a:solidFill>
                <a:latin typeface="Arial"/>
              </a:rPr>
              <a:t>Scarce inspectors, better aimed.</a:t>
            </a:r>
            <a:r>
              <a:rPr sz="1080" b="0">
                <a:solidFill>
                  <a:srgbClr val="22303F"/>
                </a:solidFill>
                <a:latin typeface="Arial"/>
              </a:rPr>
              <a:t> Risk ranking tells DGMS which mine to visit first instead of inspecting round-robin.</a:t>
            </a:r>
          </a:p>
        </p:txBody>
      </p:sp>
      <p:pic>
        <p:nvPicPr>
          <p:cNvPr id="15372" name="Picture 15371" descr="im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1481328"/>
            <a:ext cx="4069080" cy="2797492"/>
          </a:xfrm>
          <a:prstGeom prst="rect">
            <a:avLst/>
          </a:prstGeom>
        </p:spPr>
      </p:pic>
      <p:sp>
        <p:nvSpPr>
          <p:cNvPr id="15373" name="Rounded Rectangle 15372"/>
          <p:cNvSpPr/>
          <p:nvPr/>
        </p:nvSpPr>
        <p:spPr>
          <a:xfrm>
            <a:off x="7360920" y="4388548"/>
            <a:ext cx="4315968" cy="1829371"/>
          </a:xfrm>
          <a:prstGeom prst="roundRect">
            <a:avLst>
              <a:gd name="adj" fmla="val 5500"/>
            </a:avLst>
          </a:prstGeom>
          <a:solidFill>
            <a:srgbClr val="FDF0DE"/>
          </a:solidFill>
          <a:ln w="13970">
            <a:solidFill>
              <a:srgbClr val="E8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4" name="Rounded Rectangle 15373"/>
          <p:cNvSpPr/>
          <p:nvPr/>
        </p:nvSpPr>
        <p:spPr>
          <a:xfrm>
            <a:off x="7516368" y="4502848"/>
            <a:ext cx="105156" cy="151892"/>
          </a:xfrm>
          <a:prstGeom prst="roundRect">
            <a:avLst>
              <a:gd name="adj" fmla="val 35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5" name="TextBox 15374"/>
          <p:cNvSpPr txBox="1"/>
          <p:nvPr/>
        </p:nvSpPr>
        <p:spPr>
          <a:xfrm>
            <a:off x="7690104" y="4461700"/>
            <a:ext cx="3849624" cy="302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F3B63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516368" y="4773612"/>
            <a:ext cx="4023360" cy="138029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55448" indent="-155448" algn="l">
              <a:lnSpc>
                <a:spcPct val="88000"/>
              </a:lnSpc>
              <a:spcBef>
                <a:spcPts val="0"/>
              </a:spcBef>
              <a:spcAft>
                <a:spcPts val="4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A rulebook that updates itself.</a:t>
            </a:r>
            <a:r>
              <a:rPr sz="1050" b="0">
                <a:solidFill>
                  <a:srgbClr val="22303F"/>
                </a:solidFill>
                <a:latin typeface="Arial"/>
              </a:rPr>
              <a:t> The Mines Act 1952 is repealed the day the OSH&amp;WC Code 2020 is notified. Hard-coded rules break; a parsed corpus re-derives every duty overnight.</a:t>
            </a:r>
          </a:p>
          <a:p>
            <a:pPr marL="155448" indent="-155448" algn="l">
              <a:lnSpc>
                <a:spcPct val="88000"/>
              </a:lnSpc>
              <a:spcBef>
                <a:spcPts val="0"/>
              </a:spcBef>
              <a:spcAft>
                <a:spcPts val="4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Predicts the breach, does not record it.</a:t>
            </a:r>
            <a:r>
              <a:rPr sz="1050" b="0">
                <a:solidFill>
                  <a:srgbClr val="22303F"/>
                </a:solidFill>
                <a:latin typeface="Arial"/>
              </a:rPr>
              <a:t> Risk scoring fed by hazard telemetry CIL already collects, so it needs no new sensors.</a:t>
            </a:r>
          </a:p>
          <a:p>
            <a:pPr marL="155448" indent="-155448" algn="l">
              <a:lnSpc>
                <a:spcPct val="88000"/>
              </a:lnSpc>
              <a:spcBef>
                <a:spcPts val="0"/>
              </a:spcBef>
              <a:spcAft>
                <a:spcPts val="4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Evidence that survives an enquiry.</a:t>
            </a:r>
            <a:r>
              <a:rPr sz="1050" b="0">
                <a:solidFill>
                  <a:srgbClr val="22303F"/>
                </a:solidFill>
                <a:latin typeface="Arial"/>
              </a:rPr>
              <a:t> Offline, geo-tagged, hash-chained and pre-screened by 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27432"/>
            <a:ext cx="7863840" cy="960120"/>
          </a:xfrm>
        </p:spPr>
        <p:txBody>
          <a:bodyPr wrap="square" tIns="0" bIns="0" anchor="ctr"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F3B63"/>
                </a:solidFill>
                <a:latin typeface="Arial"/>
              </a:rPr>
              <a:t>NeuraForge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138428"/>
            <a:ext cx="105156" cy="163576"/>
          </a:xfrm>
          <a:prstGeom prst="roundRect">
            <a:avLst>
              <a:gd name="adj" fmla="val 35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85216" y="1097280"/>
            <a:ext cx="11164824" cy="3190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F3B63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434592"/>
            <a:ext cx="1810512" cy="1060704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13970">
            <a:solidFill>
              <a:srgbClr val="B8C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475488" y="1489456"/>
            <a:ext cx="1682495" cy="9509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F3B63"/>
                </a:solidFill>
                <a:latin typeface="Arial"/>
              </a:rPr>
              <a:t>Frontend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303F"/>
                </a:solidFill>
                <a:latin typeface="Arial"/>
              </a:rPr>
              <a:t>React 18 + TypeScript, Tailwind CSS, Recharts / D3, Leaflet maps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313432" y="1434592"/>
            <a:ext cx="1810512" cy="1060704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13970">
            <a:solidFill>
              <a:srgbClr val="B8C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2377440" y="1489456"/>
            <a:ext cx="1682495" cy="9509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F3B63"/>
                </a:solidFill>
                <a:latin typeface="Arial"/>
              </a:rPr>
              <a:t>Mobile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303F"/>
                </a:solidFill>
                <a:latin typeface="Arial"/>
              </a:rPr>
              <a:t>React Native, SQLite / WatermelonDB offline-first, geo-tagged camera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15384" y="1434592"/>
            <a:ext cx="1810512" cy="1060704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13970">
            <a:solidFill>
              <a:srgbClr val="B8C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279392" y="1489456"/>
            <a:ext cx="1682495" cy="9509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F3B63"/>
                </a:solidFill>
                <a:latin typeface="Arial"/>
              </a:rPr>
              <a:t>Backend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303F"/>
                </a:solidFill>
                <a:latin typeface="Arial"/>
              </a:rPr>
              <a:t>FastAPI (Python), Node.js services, REST + GraphQL, MQTT / Kafka ingest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17336" y="1434592"/>
            <a:ext cx="1810512" cy="1060704"/>
          </a:xfrm>
          <a:prstGeom prst="roundRect">
            <a:avLst>
              <a:gd name="adj" fmla="val 5500"/>
            </a:avLst>
          </a:prstGeom>
          <a:solidFill>
            <a:srgbClr val="FDF0DE"/>
          </a:solidFill>
          <a:ln w="13970">
            <a:solidFill>
              <a:srgbClr val="E8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6181344" y="1489456"/>
            <a:ext cx="1682495" cy="9509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8A4B08"/>
                </a:solidFill>
                <a:latin typeface="Arial"/>
              </a:rPr>
              <a:t>AI / ML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303F"/>
                </a:solidFill>
                <a:latin typeface="Arial"/>
              </a:rPr>
              <a:t>pgvector RAG + sentence-transformers, XGBoost risk model, YOLOv8 vision, time-series hazard detection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019288" y="1434592"/>
            <a:ext cx="1810512" cy="1060704"/>
          </a:xfrm>
          <a:prstGeom prst="roundRect">
            <a:avLst>
              <a:gd name="adj" fmla="val 5500"/>
            </a:avLst>
          </a:prstGeom>
          <a:solidFill>
            <a:srgbClr val="EAF3EC"/>
          </a:solidFill>
          <a:ln w="13970">
            <a:solidFill>
              <a:srgbClr val="8FB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8083296" y="1489456"/>
            <a:ext cx="1682495" cy="9509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F5B2E"/>
                </a:solidFill>
                <a:latin typeface="Arial"/>
              </a:rPr>
              <a:t>Data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303F"/>
                </a:solidFill>
                <a:latin typeface="Arial"/>
              </a:rPr>
              <a:t>PostgreSQL + PostGIS, TimescaleDB, Redis, MinIO object store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921240" y="1434592"/>
            <a:ext cx="1810512" cy="1060704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9985248" y="1489456"/>
            <a:ext cx="1682495" cy="9509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1" i="0">
                <a:solidFill>
                  <a:srgbClr val="1F3B63"/>
                </a:solidFill>
                <a:latin typeface="Arial"/>
              </a:rPr>
              <a:t>Infra &amp; Security</a:t>
            </a:r>
          </a:p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>
                <a:solidFill>
                  <a:srgbClr val="22303F"/>
                </a:solidFill>
                <a:latin typeface="Arial"/>
              </a:rPr>
              <a:t>Docker, Kubernetes, NIC MeghRaj cloud, Parichay SSO, RBAC, AES-256, hash-chained audit log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11480" y="2646172"/>
            <a:ext cx="105156" cy="163576"/>
          </a:xfrm>
          <a:prstGeom prst="roundRect">
            <a:avLst>
              <a:gd name="adj" fmla="val 35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585216" y="2605024"/>
            <a:ext cx="11164824" cy="3190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F3B63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pic>
        <p:nvPicPr>
          <p:cNvPr id="17426" name="Picture 17425" descr="img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168" y="2960624"/>
            <a:ext cx="9959358" cy="3257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27432"/>
            <a:ext cx="7863840" cy="960120"/>
          </a:xfrm>
        </p:spPr>
        <p:txBody>
          <a:bodyPr wrap="square" tIns="0" bIns="0" anchor="ctr"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F3B63"/>
                </a:solidFill>
                <a:latin typeface="Arial"/>
              </a:rPr>
              <a:t>NeuraForge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060704"/>
            <a:ext cx="3557016" cy="3888639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13970">
            <a:solidFill>
              <a:srgbClr val="B8C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57784" y="1184148"/>
            <a:ext cx="91440" cy="146050"/>
          </a:xfrm>
          <a:prstGeom prst="roundRect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717803" y="1143000"/>
            <a:ext cx="3131820" cy="4978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3B63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57784" y="1649983"/>
            <a:ext cx="3291840" cy="319877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3B63"/>
                </a:solidFill>
                <a:latin typeface="Arial"/>
              </a:rPr>
              <a:t>No new hardware.</a:t>
            </a:r>
            <a:r>
              <a:rPr sz="1050" b="0">
                <a:solidFill>
                  <a:srgbClr val="22303F"/>
                </a:solidFill>
                <a:latin typeface="Arial"/>
              </a:rPr>
              <a:t> The sensors already exist. CIL runs ETMS, methane detectors, strata monitoring and geo-fenced vehicle tracking today; we read them.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3B63"/>
                </a:solidFill>
                <a:latin typeface="Arial"/>
              </a:rPr>
              <a:t>Zero licence cost.</a:t>
            </a:r>
            <a:r>
              <a:rPr sz="1050" b="0">
                <a:solidFill>
                  <a:srgbClr val="22303F"/>
                </a:solidFill>
                <a:latin typeface="Arial"/>
              </a:rPr>
              <a:t> Entire stack is open source and deploys on existing NIC MeghRaj or CIL data-centre capacity.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3B63"/>
                </a:solidFill>
                <a:latin typeface="Arial"/>
              </a:rPr>
              <a:t>Inputs are already public.</a:t>
            </a:r>
            <a:r>
              <a:rPr sz="1050" b="0">
                <a:solidFill>
                  <a:srgbClr val="22303F"/>
                </a:solidFill>
                <a:latin typeface="Arial"/>
              </a:rPr>
              <a:t> Statutes, DGMS circulars, EC and CTO conditions are published on DGMS, MoEFCC and PARIVESH.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3B63"/>
                </a:solidFill>
                <a:latin typeface="Arial"/>
              </a:rPr>
              <a:t>No retraining needed.</a:t>
            </a:r>
            <a:r>
              <a:rPr sz="1050" b="0">
                <a:solidFill>
                  <a:srgbClr val="22303F"/>
                </a:solidFill>
                <a:latin typeface="Arial"/>
              </a:rPr>
              <a:t> Screens mirror the Form A/B registers field staff already fill; regional language support.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3B63"/>
                </a:solidFill>
                <a:latin typeface="Arial"/>
              </a:rPr>
              <a:t>Buildable in 36 hours.</a:t>
            </a:r>
            <a:r>
              <a:rPr sz="1050" b="0">
                <a:solidFill>
                  <a:srgbClr val="22303F"/>
                </a:solidFill>
                <a:latin typeface="Arial"/>
              </a:rPr>
              <a:t> Working prototype on a seeded corpus of the top 50 statutory duties and one demo mine.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3B63"/>
                </a:solidFill>
                <a:latin typeface="Arial"/>
              </a:rPr>
              <a:t>Proven components.</a:t>
            </a:r>
            <a:r>
              <a:rPr sz="1050" b="0">
                <a:solidFill>
                  <a:srgbClr val="22303F"/>
                </a:solidFill>
                <a:latin typeface="Arial"/>
              </a:rPr>
              <a:t> Nothing is research-grade — RAG, gradient boosting and YOLOv8 are production-standard.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3B63"/>
                </a:solidFill>
                <a:latin typeface="Arial"/>
              </a:rPr>
              <a:t>Phased rollout.</a:t>
            </a:r>
            <a:r>
              <a:rPr sz="1050" b="0">
                <a:solidFill>
                  <a:srgbClr val="22303F"/>
                </a:solidFill>
                <a:latin typeface="Arial"/>
              </a:rPr>
              <a:t> Pilot one subsidiary, then scale. No big-bang migration across 313 mines.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15968" y="1060704"/>
            <a:ext cx="3557016" cy="3888639"/>
          </a:xfrm>
          <a:prstGeom prst="roundRect">
            <a:avLst>
              <a:gd name="adj" fmla="val 5500"/>
            </a:avLst>
          </a:prstGeom>
          <a:solidFill>
            <a:srgbClr val="FDF0DE"/>
          </a:solidFill>
          <a:ln w="13970">
            <a:solidFill>
              <a:srgbClr val="E8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462272" y="1184148"/>
            <a:ext cx="91440" cy="146050"/>
          </a:xfrm>
          <a:prstGeom prst="roundRect">
            <a:avLst>
              <a:gd name="adj" fmla="val 35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622292" y="1143000"/>
            <a:ext cx="3131820" cy="2946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3B63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62272" y="1446784"/>
            <a:ext cx="3291840" cy="340197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No connectivity underground.</a:t>
            </a:r>
            <a:r>
              <a:rPr sz="1050" b="0">
                <a:solidFill>
                  <a:srgbClr val="22303F"/>
                </a:solidFill>
                <a:latin typeface="Arial"/>
              </a:rPr>
              <a:t> Field capture cannot assume a network.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Legal text is messy.</a:t>
            </a:r>
            <a:r>
              <a:rPr sz="1050" b="0">
                <a:solidFill>
                  <a:srgbClr val="22303F"/>
                </a:solidFill>
                <a:latin typeface="Arial"/>
              </a:rPr>
              <a:t> Long, unstructured and amended often by fresh circulars.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AI misreading the law.</a:t>
            </a:r>
            <a:r>
              <a:rPr sz="1050" b="0">
                <a:solidFill>
                  <a:srgbClr val="22303F"/>
                </a:solidFill>
                <a:latin typeface="Arial"/>
              </a:rPr>
              <a:t> A hallucinated statutory interpretation is a serious liability.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Sensor data is patchy.</a:t>
            </a:r>
            <a:r>
              <a:rPr sz="1050" b="0">
                <a:solidFill>
                  <a:srgbClr val="22303F"/>
                </a:solidFill>
                <a:latin typeface="Arial"/>
              </a:rPr>
              <a:t> Instruments differ by mine, by vintage and by vendor; some feeds are analogue.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Adoption resistance.</a:t>
            </a:r>
            <a:r>
              <a:rPr sz="1050" b="0">
                <a:solidFill>
                  <a:srgbClr val="22303F"/>
                </a:solidFill>
                <a:latin typeface="Arial"/>
              </a:rPr>
              <a:t> Field staff are used to paper and may distrust a scoring system.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Data sensitivity.</a:t>
            </a:r>
            <a:r>
              <a:rPr sz="1050" b="0">
                <a:solidFill>
                  <a:srgbClr val="22303F"/>
                </a:solidFill>
                <a:latin typeface="Arial"/>
              </a:rPr>
              <a:t> Safety and violation data spans eight subsidiaries with different owners.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E8871A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8A4B08"/>
                </a:solidFill>
                <a:latin typeface="Arial"/>
              </a:rPr>
              <a:t>Thin training history.</a:t>
            </a:r>
            <a:r>
              <a:rPr sz="1050" b="0">
                <a:solidFill>
                  <a:srgbClr val="22303F"/>
                </a:solidFill>
                <a:latin typeface="Arial"/>
              </a:rPr>
              <a:t> Early risk scores have limited labelled violation data to learn from.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220456" y="1060704"/>
            <a:ext cx="3557016" cy="3888639"/>
          </a:xfrm>
          <a:prstGeom prst="roundRect">
            <a:avLst>
              <a:gd name="adj" fmla="val 5500"/>
            </a:avLst>
          </a:prstGeom>
          <a:solidFill>
            <a:srgbClr val="EAF3EC"/>
          </a:solidFill>
          <a:ln w="13970">
            <a:solidFill>
              <a:srgbClr val="8FB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8366760" y="1184148"/>
            <a:ext cx="91440" cy="146050"/>
          </a:xfrm>
          <a:prstGeom prst="roundRect">
            <a:avLst>
              <a:gd name="adj" fmla="val 3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526780" y="1143000"/>
            <a:ext cx="3131820" cy="49783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3B63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66760" y="1649983"/>
            <a:ext cx="3291840" cy="319877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5B2E"/>
                </a:solidFill>
                <a:latin typeface="Arial"/>
              </a:rPr>
              <a:t>Offline-first architecture.</a:t>
            </a:r>
            <a:r>
              <a:rPr sz="1050" b="0">
                <a:solidFill>
                  <a:srgbClr val="22303F"/>
                </a:solidFill>
                <a:latin typeface="Arial"/>
              </a:rPr>
              <a:t> Local queue with conflict resolution; uploads on reconnect.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5B2E"/>
                </a:solidFill>
                <a:latin typeface="Arial"/>
              </a:rPr>
              <a:t>Versioned corpus, scheduled re-index.</a:t>
            </a:r>
            <a:r>
              <a:rPr sz="1050" b="0">
                <a:solidFill>
                  <a:srgbClr val="22303F"/>
                </a:solidFill>
                <a:latin typeface="Arial"/>
              </a:rPr>
              <a:t> A new circular automatically recomputes the duties it touches.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5B2E"/>
                </a:solidFill>
                <a:latin typeface="Arial"/>
              </a:rPr>
              <a:t>Human-in-the-loop, always.</a:t>
            </a:r>
            <a:r>
              <a:rPr sz="1050" b="0">
                <a:solidFill>
                  <a:srgbClr val="22303F"/>
                </a:solidFill>
                <a:latin typeface="Arial"/>
              </a:rPr>
              <a:t> AI drafts and cites the clause; a qualified officer signs. It never auto-files a return.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5B2E"/>
                </a:solidFill>
                <a:latin typeface="Arial"/>
              </a:rPr>
              <a:t>Adapter pattern for instruments.</a:t>
            </a:r>
            <a:r>
              <a:rPr sz="1050" b="0">
                <a:solidFill>
                  <a:srgbClr val="22303F"/>
                </a:solidFill>
                <a:latin typeface="Arial"/>
              </a:rPr>
              <a:t> One driver per sensor type, with manual entry as the fallback so no mine is blocked.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5B2E"/>
                </a:solidFill>
                <a:latin typeface="Arial"/>
              </a:rPr>
              <a:t>Mirror the familiar.</a:t>
            </a:r>
            <a:r>
              <a:rPr sz="1050" b="0">
                <a:solidFill>
                  <a:srgbClr val="22303F"/>
                </a:solidFill>
                <a:latin typeface="Arial"/>
              </a:rPr>
              <a:t> Existing register formats, 15-minute onboarding, no workflow change.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5B2E"/>
                </a:solidFill>
                <a:latin typeface="Arial"/>
              </a:rPr>
              <a:t>Isolate by design.</a:t>
            </a:r>
            <a:r>
              <a:rPr sz="1050" b="0">
                <a:solidFill>
                  <a:srgbClr val="22303F"/>
                </a:solidFill>
                <a:latin typeface="Arial"/>
              </a:rPr>
              <a:t> On-premise deployment, RBAC, subsidiary-level partitioning, AES-256 at rest.</a:t>
            </a:r>
          </a:p>
          <a:p>
            <a:pPr marL="137160" indent="-137160" algn="l">
              <a:lnSpc>
                <a:spcPct val="88000"/>
              </a:lnSpc>
              <a:spcBef>
                <a:spcPts val="0"/>
              </a:spcBef>
              <a:spcAft>
                <a:spcPts val="500"/>
              </a:spcAft>
              <a:buClr>
                <a:srgbClr val="2E7D32"/>
              </a:buClr>
              <a:buSzPts val="892"/>
              <a:buFont typeface="Arial"/>
              <a:buChar char="▪"/>
            </a:pPr>
            <a:r>
              <a:rPr sz="1050" b="1">
                <a:solidFill>
                  <a:srgbClr val="1F5B2E"/>
                </a:solidFill>
                <a:latin typeface="Arial"/>
              </a:rPr>
              <a:t>Rules first, model later.</a:t>
            </a:r>
            <a:r>
              <a:rPr sz="1050" b="0">
                <a:solidFill>
                  <a:srgbClr val="22303F"/>
                </a:solidFill>
                <a:latin typeface="Arial"/>
              </a:rPr>
              <a:t> Ship deterministic rule checks on day one; the model augments as data accumulates.</a:t>
            </a:r>
          </a:p>
        </p:txBody>
      </p:sp>
      <p:pic>
        <p:nvPicPr>
          <p:cNvPr id="17422" name="Picture 17421" descr="img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5095647"/>
            <a:ext cx="11365992" cy="112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27432"/>
            <a:ext cx="7863840" cy="960120"/>
          </a:xfrm>
        </p:spPr>
        <p:txBody>
          <a:bodyPr wrap="square" tIns="0" bIns="0" anchor="ctr"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F3B63"/>
                </a:solidFill>
                <a:latin typeface="Arial"/>
              </a:rPr>
              <a:t>NeuraForge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115568"/>
            <a:ext cx="2226564" cy="877824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48056" y="1179576"/>
            <a:ext cx="2153412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500" b="1" i="0">
                <a:solidFill>
                  <a:srgbClr val="1F3B63"/>
                </a:solidFill>
                <a:latin typeface="Arial"/>
              </a:rPr>
              <a:t>313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CIL working mines
(April 2024)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706624" y="1115568"/>
            <a:ext cx="2226564" cy="877824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2743200" y="1179576"/>
            <a:ext cx="2153412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500" b="1" i="0">
                <a:solidFill>
                  <a:srgbClr val="0070C0"/>
                </a:solidFill>
                <a:latin typeface="Arial"/>
              </a:rPr>
              <a:t>8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producing subsidiaries
on one platform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01768" y="1115568"/>
            <a:ext cx="2226564" cy="877824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5038344" y="1179576"/>
            <a:ext cx="2153412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500" b="1" i="0">
                <a:solidFill>
                  <a:srgbClr val="2E7D32"/>
                </a:solidFill>
                <a:latin typeface="Arial"/>
              </a:rPr>
              <a:t>3.3 lakh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workforce, incl. 1.15
lakh on contract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296912" y="1115568"/>
            <a:ext cx="2226564" cy="877824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7333488" y="1179576"/>
            <a:ext cx="2153412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500" b="1" i="0">
                <a:solidFill>
                  <a:srgbClr val="8A4B08"/>
                </a:solidFill>
                <a:latin typeface="Arial"/>
              </a:rPr>
              <a:t>781 MT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CIL output,
FY 2024-25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592056" y="1115568"/>
            <a:ext cx="2226564" cy="877824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9628632" y="1179576"/>
            <a:ext cx="2153412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500" b="1" i="0">
                <a:solidFill>
                  <a:srgbClr val="C0392B"/>
                </a:solidFill>
                <a:latin typeface="Arial"/>
              </a:rPr>
              <a:t>16</a:t>
            </a:r>
          </a:p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CIL units run without
valid clearance (CAG)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2139696"/>
            <a:ext cx="5742432" cy="2944368"/>
          </a:xfrm>
          <a:prstGeom prst="roundRect">
            <a:avLst>
              <a:gd name="adj" fmla="val 5500"/>
            </a:avLst>
          </a:prstGeom>
          <a:solidFill>
            <a:srgbClr val="EEF3F9"/>
          </a:solidFill>
          <a:ln w="13970">
            <a:solidFill>
              <a:srgbClr val="B8C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566928" y="2272284"/>
            <a:ext cx="105156" cy="157734"/>
          </a:xfrm>
          <a:prstGeom prst="roundRect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740664" y="2231136"/>
            <a:ext cx="5266944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1F3B63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66928" y="2560320"/>
            <a:ext cx="5440680" cy="24140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3B63"/>
                </a:solidFill>
                <a:latin typeface="Arial"/>
              </a:rPr>
              <a:t>Mine managers &amp; safety officers</a:t>
            </a:r>
            <a:r>
              <a:rPr sz="1100" b="0">
                <a:solidFill>
                  <a:srgbClr val="22303F"/>
                </a:solidFill>
                <a:latin typeface="Arial"/>
              </a:rPr>
              <a:t> — every duty, deadline and piece of evidence in one place, with hazard alerts arriving before an inspection does.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3B63"/>
                </a:solidFill>
                <a:latin typeface="Arial"/>
              </a:rPr>
              <a:t>CIL corporate &amp; its subsidiaries</a:t>
            </a:r>
            <a:r>
              <a:rPr sz="1100" b="0">
                <a:solidFill>
                  <a:srgbClr val="22303F"/>
                </a:solidFill>
                <a:latin typeface="Arial"/>
              </a:rPr>
              <a:t> — live compliance posture across 313 mines and early warning ahead of a recorded violation.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3B63"/>
                </a:solidFill>
                <a:latin typeface="Arial"/>
              </a:rPr>
              <a:t>DGMS, MoEFCC &amp; CPCB</a:t>
            </a:r>
            <a:r>
              <a:rPr sz="1100" b="0">
                <a:solidFill>
                  <a:srgbClr val="22303F"/>
                </a:solidFill>
                <a:latin typeface="Arial"/>
              </a:rPr>
              <a:t> — verified, timestamped, clause-linked evidence in place of self-declared PDFs, so scarce inspector time goes to the highest-risk mines.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3B63"/>
                </a:solidFill>
                <a:latin typeface="Arial"/>
              </a:rPr>
              <a:t>3.3 lakh workers, contractors included</a:t>
            </a:r>
            <a:r>
              <a:rPr sz="1100" b="0">
                <a:solidFill>
                  <a:srgbClr val="22303F"/>
                </a:solidFill>
                <a:latin typeface="Arial"/>
              </a:rPr>
              <a:t> — the safety committee's own minutes record contract labour being left out of safety committees; here every duty carries a named owner.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3B63"/>
                </a:solidFill>
                <a:latin typeface="Arial"/>
              </a:rPr>
              <a:t>Citizens near coalfields</a:t>
            </a:r>
            <a:r>
              <a:rPr sz="1100" b="0">
                <a:solidFill>
                  <a:srgbClr val="22303F"/>
                </a:solidFill>
                <a:latin typeface="Arial"/>
              </a:rPr>
              <a:t> — clearance conditions and lease boundaries monitored continuously instead of self-certified twice a year.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46520" y="2139696"/>
            <a:ext cx="5330952" cy="2944368"/>
          </a:xfrm>
          <a:prstGeom prst="roundRect">
            <a:avLst>
              <a:gd name="adj" fmla="val 5500"/>
            </a:avLst>
          </a:prstGeom>
          <a:solidFill>
            <a:srgbClr val="EAF3EC"/>
          </a:solidFill>
          <a:ln w="13970">
            <a:solidFill>
              <a:srgbClr val="8FB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6601968" y="2272284"/>
            <a:ext cx="105156" cy="157734"/>
          </a:xfrm>
          <a:prstGeom prst="roundRect">
            <a:avLst>
              <a:gd name="adj" fmla="val 3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6775704" y="2231136"/>
            <a:ext cx="4855464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1F3B63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601968" y="2779776"/>
            <a:ext cx="5029200" cy="21945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E7D32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5B2E"/>
                </a:solidFill>
                <a:latin typeface="Arial"/>
              </a:rPr>
              <a:t>Social</a:t>
            </a:r>
            <a:r>
              <a:rPr sz="1100" b="0">
                <a:solidFill>
                  <a:srgbClr val="22303F"/>
                </a:solidFill>
                <a:latin typeface="Arial"/>
              </a:rPr>
              <a:t> — preventive action against the 25 fatal accidents recorded at CIL mines in 2025, and safer conditions for a 3.3 lakh workforce.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E7D32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5B2E"/>
                </a:solidFill>
                <a:latin typeface="Arial"/>
              </a:rPr>
              <a:t>Economic</a:t>
            </a:r>
            <a:r>
              <a:rPr sz="1100" b="0">
                <a:solidFill>
                  <a:srgbClr val="22303F"/>
                </a:solidFill>
                <a:latin typeface="Arial"/>
              </a:rPr>
              <a:t> — fewer stoppages, show-cause notices and penalties; sharply lower paperwork and audit-preparation cost.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E7D32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5B2E"/>
                </a:solidFill>
                <a:latin typeface="Arial"/>
              </a:rPr>
              <a:t>Environmental</a:t>
            </a:r>
            <a:r>
              <a:rPr sz="1100" b="0">
                <a:solidFill>
                  <a:srgbClr val="22303F"/>
                </a:solidFill>
                <a:latin typeface="Arial"/>
              </a:rPr>
              <a:t> — EC and CTO conditions monitored continuously: air and water quality, land reclamation, plantation targets.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E7D32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5B2E"/>
                </a:solidFill>
                <a:latin typeface="Arial"/>
              </a:rPr>
              <a:t>Governance</a:t>
            </a:r>
            <a:r>
              <a:rPr sz="1100" b="0">
                <a:solidFill>
                  <a:srgbClr val="22303F"/>
                </a:solidFill>
                <a:latin typeface="Arial"/>
              </a:rPr>
              <a:t> — a complete, tamper-evident audit trail makes accountability provable rather than asserted.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E7D32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5B2E"/>
                </a:solidFill>
                <a:latin typeface="Arial"/>
              </a:rPr>
              <a:t>Scalable</a:t>
            </a:r>
            <a:r>
              <a:rPr sz="1100" b="0">
                <a:solidFill>
                  <a:srgbClr val="22303F"/>
                </a:solidFill>
                <a:latin typeface="Arial"/>
              </a:rPr>
              <a:t> — the same engine covers metalliferous and non-coal mines under DGMS, and any sector governed by statutory conditions.</a:t>
            </a:r>
          </a:p>
          <a:p>
            <a:pPr marL="155448" indent="-155448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2E7D32"/>
              </a:buClr>
              <a:buSzPts val="935"/>
              <a:buFont typeface="Arial"/>
              <a:buChar char="▪"/>
            </a:pPr>
            <a:r>
              <a:rPr sz="1100" b="1">
                <a:solidFill>
                  <a:srgbClr val="1F5B2E"/>
                </a:solidFill>
                <a:latin typeface="Arial"/>
              </a:rPr>
              <a:t>SDG alignment</a:t>
            </a:r>
            <a:r>
              <a:rPr sz="1100" b="0">
                <a:solidFill>
                  <a:srgbClr val="22303F"/>
                </a:solidFill>
                <a:latin typeface="Arial"/>
              </a:rPr>
              <a:t> — SDG 8 (decent work and safe workplaces), SDG 9, SDG 12, SDG 13 and SDG 16 (accountable institutions).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1480" y="5175504"/>
            <a:ext cx="5486400" cy="2743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1F3B63"/>
                </a:solidFill>
                <a:latin typeface="Arial"/>
              </a:rPr>
              <a:t>Measurable targets for a one-subsidiary pilot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11480" y="5504688"/>
            <a:ext cx="2834640" cy="713232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521208" y="5568696"/>
            <a:ext cx="2615184" cy="5852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Inspection to filed report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C0392B"/>
                </a:solidFill>
                <a:latin typeface="Arial"/>
              </a:rPr>
              <a:t>weeks</a:t>
            </a:r>
            <a:r>
              <a:rPr sz="1350" b="1">
                <a:solidFill>
                  <a:srgbClr val="5A6B7D"/>
                </a:solidFill>
                <a:latin typeface="Arial"/>
              </a:rPr>
              <a:t>  →  </a:t>
            </a:r>
            <a:r>
              <a:rPr sz="1350" b="1">
                <a:solidFill>
                  <a:srgbClr val="2E7D32"/>
                </a:solidFill>
                <a:latin typeface="Arial"/>
              </a:rPr>
              <a:t>under 24 hours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346704" y="5504688"/>
            <a:ext cx="2834640" cy="713232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3456432" y="5568696"/>
            <a:ext cx="2615184" cy="5852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False-positive field reports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C0392B"/>
                </a:solidFill>
                <a:latin typeface="Arial"/>
              </a:rPr>
              <a:t>54%</a:t>
            </a:r>
            <a:r>
              <a:rPr sz="1350" b="1">
                <a:solidFill>
                  <a:srgbClr val="5A6B7D"/>
                </a:solidFill>
                <a:latin typeface="Arial"/>
              </a:rPr>
              <a:t>  →  </a:t>
            </a:r>
            <a:r>
              <a:rPr sz="1350" b="1">
                <a:solidFill>
                  <a:srgbClr val="2E7D32"/>
                </a:solidFill>
                <a:latin typeface="Arial"/>
              </a:rPr>
              <a:t>under 15%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281928" y="5504688"/>
            <a:ext cx="2834640" cy="713232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6391656" y="5568696"/>
            <a:ext cx="2615184" cy="5852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Statutory returns auto-drafted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C0392B"/>
                </a:solidFill>
                <a:latin typeface="Arial"/>
              </a:rPr>
              <a:t>0%</a:t>
            </a:r>
            <a:r>
              <a:rPr sz="1350" b="1">
                <a:solidFill>
                  <a:srgbClr val="5A6B7D"/>
                </a:solidFill>
                <a:latin typeface="Arial"/>
              </a:rPr>
              <a:t>  →  </a:t>
            </a:r>
            <a:r>
              <a:rPr sz="1350" b="1">
                <a:solidFill>
                  <a:srgbClr val="2E7D32"/>
                </a:solidFill>
                <a:latin typeface="Arial"/>
              </a:rPr>
              <a:t>80%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217151" y="5504688"/>
            <a:ext cx="2834640" cy="713232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9326879" y="5568696"/>
            <a:ext cx="2615184" cy="58521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>
                <a:solidFill>
                  <a:srgbClr val="5A6B7D"/>
                </a:solidFill>
                <a:latin typeface="Arial"/>
              </a:rPr>
              <a:t>Mines with a live risk score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C0392B"/>
                </a:solidFill>
                <a:latin typeface="Arial"/>
              </a:rPr>
              <a:t>0</a:t>
            </a:r>
            <a:r>
              <a:rPr sz="1350" b="1">
                <a:solidFill>
                  <a:srgbClr val="5A6B7D"/>
                </a:solidFill>
                <a:latin typeface="Arial"/>
              </a:rPr>
              <a:t>  →  </a:t>
            </a:r>
            <a:r>
              <a:rPr sz="1350" b="1">
                <a:solidFill>
                  <a:srgbClr val="2E7D32"/>
                </a:solidFill>
                <a:latin typeface="Arial"/>
              </a:rPr>
              <a:t>all 313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27432"/>
            <a:ext cx="7863840" cy="960120"/>
          </a:xfrm>
        </p:spPr>
        <p:txBody>
          <a:bodyPr wrap="square" tIns="0" bIns="0" anchor="ctr"/>
          <a:lstStyle/>
          <a:p>
            <a:pPr eaLnBrk="1" hangingPunct="1"/>
            <a:r>
              <a:rPr lang="en-US" sz="3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F3B63"/>
                </a:solidFill>
                <a:latin typeface="Arial"/>
              </a:rPr>
              <a:t>NeuraForge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138428"/>
            <a:ext cx="105156" cy="163576"/>
          </a:xfrm>
          <a:prstGeom prst="roundRect">
            <a:avLst>
              <a:gd name="adj" fmla="val 35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85216" y="1097280"/>
            <a:ext cx="11164824" cy="3190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1F3B63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57276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530352" y="169164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86968" y="165506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CAG of India — Report No. 12 of 2019, environmental impact of mining in CIL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The auditor found 16 CIL units operating without valid statutory clearance, 6 of 7 subsidiaries with no environment policy, and only 58 of 96 required air-quality stations installed.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cag.gov.in — Report No. 12 of 2019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276148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530352" y="288036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86968" y="284378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Standing Committee on Safety in Coal Mines — 49th meeting minutes, Feb 2025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80 fatal accidents occurred between sittings, and the committee recorded dust-suppression discrepancies between documented records and field conditions. That gap is the problem we close.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coal.gov.in/sites/default/files/2025-02/10-02-2025b-wn.pdf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1480" y="395020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530352" y="40690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86968" y="403250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Ministry of Coal — Annual Report, Ch. 14 “Safety in Coal Mines”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CIL fatality rates, the National Coal Mines Safety Report Portal, CSIS, and the instrumentation ANUPALAN reads: ETMS, methane detectors, strata monitoring, geo-fenced vehicle tracking.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coal.gov.in/sites/default/files/2025-02/chap14AnnualReport2025en2.pdf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1480" y="513892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530352" y="525780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86968" y="522122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The Mines Act 1952 · Coal Mines Regulations 2017 · Mines Rules 1955 · OSH&amp;WC Code 2020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The statutory corpus mapped clause-by-clause into the obligation ledger. The Code repeals the Mines Act on notification, which is why the rulebook is parsed rather than hard-coded.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indiacode.nic.in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263640" y="157276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6382512" y="169164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739127" y="165506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PIB — Coal Mine Surveillance &amp; Management System and Khanan Prahari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Of 462 reports, 251 were verified false and 77 genuine; a later release records only 78 of 483 complaints acted upon. That verification load is what our triage targets.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pib.gov.in/PressReleasePage.aspx?PRID=1898772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263640" y="276148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6382512" y="288036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739127" y="284378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Directorate General of Mines Safety, Ministry of Labour &amp; Employment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The enforcement body: 8 zones, 38 regional offices, roughly 19,012 registered mines. Source of the circulars the Digital Rulebook ingests.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dgms.gov.in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263640" y="395020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6382512" y="406908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739127" y="403250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PARIVESH and CPCB — clearance and consent conditions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Environmental clearance and Consent to Operate conditions, plus the half-yearly compliance report that is filed today as a self-declaration.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parivesh.nic.in  ·  cpcb.nic.in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263640" y="5138928"/>
            <a:ext cx="5513832" cy="1088136"/>
          </a:xfrm>
          <a:prstGeom prst="roundRect">
            <a:avLst>
              <a:gd name="adj" fmla="val 5500"/>
            </a:avLst>
          </a:prstGeom>
          <a:solidFill>
            <a:srgbClr val="F4F6F8"/>
          </a:solidFill>
          <a:ln w="13970">
            <a:solidFill>
              <a:srgbClr val="CF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4" name="Rounded Rectangle 17433"/>
          <p:cNvSpPr/>
          <p:nvPr/>
        </p:nvSpPr>
        <p:spPr>
          <a:xfrm>
            <a:off x="6382512" y="5257800"/>
            <a:ext cx="274320" cy="274320"/>
          </a:xfrm>
          <a:prstGeom prst="roundRect">
            <a:avLst>
              <a:gd name="adj" fmla="val 40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indent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739127" y="5221224"/>
            <a:ext cx="4937760" cy="9418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3B63"/>
                </a:solidFill>
                <a:latin typeface="Arial"/>
              </a:rPr>
              <a:t>Ministry of Coal Annual Report Ch. 1 and 8 — scale of the estate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60" b="0" i="0">
                <a:solidFill>
                  <a:srgbClr val="22303F"/>
                </a:solidFill>
                <a:latin typeface="Arial"/>
              </a:rPr>
              <a:t>313 CIL working mines (131 underground, 168 opencast, 14 mixed), 8 producing subsidiaries, 781 MT in FY 2024-25, 2.14 lakh employees and 1.15 lakh contract workers.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0" i="1">
                <a:solidFill>
                  <a:srgbClr val="0070C0"/>
                </a:solidFill>
                <a:latin typeface="Arial"/>
              </a:rPr>
              <a:t>coal.gov.in — Annual Report, Chapters 1 and 8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1804</Words>
  <Application>Microsoft Office PowerPoint</Application>
  <PresentationFormat>Widescreen</PresentationFormat>
  <Paragraphs>154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ANUPALAN – AI Compliance Command Centre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Keshav Jha</cp:lastModifiedBy>
  <cp:revision>149</cp:revision>
  <dcterms:created xsi:type="dcterms:W3CDTF">2013-12-12T18:46:50Z</dcterms:created>
  <dcterms:modified xsi:type="dcterms:W3CDTF">2026-09-01T05:11:25Z</dcterms:modified>
  <cp:category/>
</cp:coreProperties>
</file>